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8"/>
  </p:notesMasterIdLst>
  <p:handoutMasterIdLst>
    <p:handoutMasterId r:id="rId29"/>
  </p:handoutMasterIdLst>
  <p:sldIdLst>
    <p:sldId id="256" r:id="rId3"/>
    <p:sldId id="262" r:id="rId4"/>
    <p:sldId id="311" r:id="rId5"/>
    <p:sldId id="359" r:id="rId6"/>
    <p:sldId id="312" r:id="rId7"/>
    <p:sldId id="365" r:id="rId8"/>
    <p:sldId id="360" r:id="rId9"/>
    <p:sldId id="362" r:id="rId10"/>
    <p:sldId id="361" r:id="rId11"/>
    <p:sldId id="366" r:id="rId12"/>
    <p:sldId id="364" r:id="rId13"/>
    <p:sldId id="367" r:id="rId14"/>
    <p:sldId id="368" r:id="rId15"/>
    <p:sldId id="381" r:id="rId16"/>
    <p:sldId id="369" r:id="rId17"/>
    <p:sldId id="371" r:id="rId18"/>
    <p:sldId id="375" r:id="rId19"/>
    <p:sldId id="376" r:id="rId20"/>
    <p:sldId id="377" r:id="rId21"/>
    <p:sldId id="372" r:id="rId22"/>
    <p:sldId id="374" r:id="rId23"/>
    <p:sldId id="378" r:id="rId24"/>
    <p:sldId id="282" r:id="rId25"/>
    <p:sldId id="281" r:id="rId26"/>
    <p:sldId id="29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B33AD-56FE-5AC5-0042-3BD271A98067}" v="2" dt="2024-12-17T16:12:20.554"/>
    <p1510:client id="{7FA6A14B-6C76-AE92-5C91-D32ACC8A616F}" v="24" dt="2024-12-18T15:37:40.256"/>
    <p1510:client id="{8B5CC747-AEA6-8258-5742-A456AFE55C22}" v="169" dt="2024-12-18T14:44:07.258"/>
    <p1510:client id="{B4067ACC-3418-79D1-D6D1-FE9F7CD4E5A0}" v="524" dt="2024-12-18T14:02:04.446"/>
    <p1510:client id="{F1760D8E-D6C5-581E-D084-609A9AE03543}" v="449" dt="2024-12-17T16:56:52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8152C-9E82-4F38-99D8-935E6A7DD67A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13332-AAA5-4825-887E-4684674A6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43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9230-3BAA-4F0D-996E-5DED99486AC5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99DB1-1E66-4620-B49E-B49394DED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420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99DB1-1E66-4620-B49E-B49394DEDE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160C1-7563-4323-B766-3B4A43BA7870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2800" b="1">
                <a:solidFill>
                  <a:srgbClr val="002F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4AA5-BECD-4959-B03F-F39A1D457D3B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A336-C57A-4B06-9B64-7FB046DA71BE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0FE3-9B6E-4B29-A4FB-46E50815B634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2210-C2B9-4C0E-B9FA-6D37A21CA903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9C3-DF1D-4394-874D-BB1A94B16D72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4379-F063-4D47-8BE5-1650513D6DF3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3515-7A3D-4A47-9BFB-097CBD0343FD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2CF7-94B5-4A53-A2DC-DBA85CEDFB3B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AAD3-27BE-4908-9705-5547D779A30F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D103B-5021-42F4-833A-8168C80E662E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9160C1-7563-4323-B766-3B4A43BA7870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8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D1C1BFE-86AD-4E98-8712-9CEA5A33D85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0">
                    <a:srgbClr val="5E9EFF"/>
                  </a:gs>
                  <a:gs pos="39999">
                    <a:srgbClr val="85C2FF"/>
                  </a:gs>
                  <a:gs pos="70000">
                    <a:srgbClr val="C4D6EB"/>
                  </a:gs>
                  <a:gs pos="100000">
                    <a:srgbClr val="FFEBFA"/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0">
                    <a:srgbClr val="5E9EFF"/>
                  </a:gs>
                  <a:gs pos="39999">
                    <a:srgbClr val="85C2FF"/>
                  </a:gs>
                  <a:gs pos="70000">
                    <a:srgbClr val="C4D6EB"/>
                  </a:gs>
                  <a:gs pos="100000">
                    <a:srgbClr val="FFEBFA"/>
                  </a:gs>
                </a:gsLst>
                <a:lin ang="540000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13 Resim" descr="logo.jpg"/>
          <p:cNvPicPr preferRelativeResize="0"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76200" y="5960897"/>
            <a:ext cx="954634" cy="8209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rgbClr val="002F8E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3536A-10B0-4878-8870-3DAFD27BF238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1C441-EF79-49B2-94B0-74425035E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191000"/>
            <a:ext cx="7854696" cy="1752600"/>
          </a:xfrm>
        </p:spPr>
        <p:txBody>
          <a:bodyPr vert="horz" lIns="0" tIns="45720" rIns="18288" bIns="45720" anchor="t">
            <a:normAutofit fontScale="40000" lnSpcReduction="20000"/>
          </a:bodyPr>
          <a:lstStyle/>
          <a:p>
            <a:endParaRPr lang="tr-TR">
              <a:latin typeface="Arial" pitchFamily="34" charset="0"/>
              <a:cs typeface="Arial" pitchFamily="34" charset="0"/>
            </a:endParaRPr>
          </a:p>
          <a:p>
            <a:endParaRPr lang="tr-TR">
              <a:latin typeface="Arial" pitchFamily="34" charset="0"/>
              <a:cs typeface="Arial" pitchFamily="34" charset="0"/>
            </a:endParaRPr>
          </a:p>
          <a:p>
            <a:endParaRPr lang="tr-TR">
              <a:latin typeface="Arial" pitchFamily="34" charset="0"/>
              <a:cs typeface="Arial" pitchFamily="34" charset="0"/>
            </a:endParaRPr>
          </a:p>
          <a:p>
            <a:endParaRPr lang="tr-TR">
              <a:latin typeface="Arial" pitchFamily="34" charset="0"/>
              <a:cs typeface="Arial" pitchFamily="34" charset="0"/>
            </a:endParaRPr>
          </a:p>
          <a:p>
            <a:endParaRPr lang="tr-TR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34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5100" b="1">
                <a:solidFill>
                  <a:schemeClr val="bg1"/>
                </a:solidFill>
                <a:latin typeface="Arial"/>
                <a:cs typeface="Arial"/>
              </a:rPr>
              <a:t>Hakan Duran</a:t>
            </a:r>
          </a:p>
          <a:p>
            <a:pPr algn="ctr"/>
            <a:r>
              <a:rPr lang="en-US" sz="5100" b="1">
                <a:solidFill>
                  <a:schemeClr val="bg1"/>
                </a:solidFill>
                <a:latin typeface="Arial"/>
                <a:cs typeface="Arial"/>
              </a:rPr>
              <a:t>Yasin Enes Polat</a:t>
            </a:r>
            <a:endParaRPr lang="tr-TR" sz="51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5100" b="1" err="1">
                <a:solidFill>
                  <a:schemeClr val="bg1"/>
                </a:solidFill>
                <a:latin typeface="Arial"/>
                <a:cs typeface="Arial"/>
              </a:rPr>
              <a:t>December</a:t>
            </a:r>
            <a:r>
              <a:rPr lang="tr-TR" sz="5100" b="1">
                <a:solidFill>
                  <a:schemeClr val="bg1"/>
                </a:solidFill>
                <a:latin typeface="Arial"/>
                <a:cs typeface="Arial"/>
              </a:rPr>
              <a:t> 25, 202</a:t>
            </a:r>
            <a:r>
              <a:rPr lang="en-US" sz="5100" b="1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lang="tr-TR" sz="5100" b="1">
              <a:solidFill>
                <a:schemeClr val="bg1"/>
              </a:solidFill>
              <a:latin typeface="Arial"/>
              <a:cs typeface="Arial"/>
            </a:endParaRPr>
          </a:p>
          <a:p>
            <a:endParaRPr lang="en-US" sz="380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7 Resim" descr="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40" y="5791200"/>
            <a:ext cx="1178560" cy="1013460"/>
          </a:xfrm>
          <a:prstGeom prst="rect">
            <a:avLst/>
          </a:prstGeom>
        </p:spPr>
      </p:pic>
      <p:sp>
        <p:nvSpPr>
          <p:cNvPr id="10" name="9 Dikdörtgen"/>
          <p:cNvSpPr/>
          <p:nvPr/>
        </p:nvSpPr>
        <p:spPr>
          <a:xfrm>
            <a:off x="1371988" y="2134255"/>
            <a:ext cx="6400021" cy="1200329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3600" b="1">
                <a:solidFill>
                  <a:srgbClr val="002F8E"/>
                </a:solidFill>
                <a:latin typeface="Arial"/>
                <a:cs typeface="Arial"/>
              </a:rPr>
              <a:t>A Survey on Threat Hunting </a:t>
            </a:r>
            <a:endParaRPr lang="tr-TR" sz="2400"/>
          </a:p>
          <a:p>
            <a:pPr algn="ctr"/>
            <a:r>
              <a:rPr lang="en-US" sz="3600" b="1">
                <a:solidFill>
                  <a:srgbClr val="002F8E"/>
                </a:solidFill>
                <a:latin typeface="Arial"/>
                <a:cs typeface="Arial"/>
              </a:rPr>
              <a:t>in Enterprise Networks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2800" err="1">
                <a:solidFill>
                  <a:srgbClr val="002F8E"/>
                </a:solidFill>
                <a:latin typeface="Arial" pitchFamily="34" charset="0"/>
                <a:cs typeface="Arial" pitchFamily="34" charset="0"/>
              </a:rPr>
              <a:t>Overview</a:t>
            </a:r>
            <a:endParaRPr lang="en-US" sz="2800">
              <a:solidFill>
                <a:srgbClr val="002F8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latin typeface="Arial"/>
                <a:cs typeface="Arial"/>
              </a:rPr>
              <a:t>Motivation</a:t>
            </a:r>
            <a:endParaRPr lang="en-US" sz="2400" err="1">
              <a:latin typeface="Arial"/>
              <a:cs typeface="Arial"/>
            </a:endParaRPr>
          </a:p>
          <a:p>
            <a:r>
              <a:rPr lang="tr-TR" sz="2400">
                <a:latin typeface="Arial"/>
                <a:cs typeface="Arial"/>
              </a:rPr>
              <a:t>Definition of </a:t>
            </a:r>
            <a:r>
              <a:rPr lang="tr-TR" sz="2400" err="1">
                <a:latin typeface="Arial"/>
                <a:cs typeface="Arial"/>
              </a:rPr>
              <a:t>the</a:t>
            </a:r>
            <a:r>
              <a:rPr lang="tr-TR" sz="2400">
                <a:latin typeface="Arial"/>
                <a:cs typeface="Arial"/>
              </a:rPr>
              <a:t> Problem</a:t>
            </a:r>
            <a:endParaRPr lang="en-US" sz="2400">
              <a:latin typeface="Arial"/>
              <a:cs typeface="Arial"/>
            </a:endParaRPr>
          </a:p>
          <a:p>
            <a:r>
              <a:rPr lang="en-US" sz="2400">
                <a:latin typeface="Arial"/>
                <a:cs typeface="Arial"/>
              </a:rPr>
              <a:t>Overview of the Project</a:t>
            </a:r>
          </a:p>
          <a:p>
            <a:r>
              <a:rPr lang="en-US" sz="2400">
                <a:latin typeface="Arial"/>
                <a:cs typeface="Arial"/>
              </a:rPr>
              <a:t>Threat Hunting Essentials</a:t>
            </a:r>
          </a:p>
          <a:p>
            <a:r>
              <a:rPr lang="en-US" sz="2400">
                <a:latin typeface="Arial"/>
                <a:cs typeface="Arial"/>
              </a:rPr>
              <a:t>Threat Hunting Architecture</a:t>
            </a:r>
          </a:p>
          <a:p>
            <a:r>
              <a:rPr lang="en-US" sz="2400">
                <a:latin typeface="Arial"/>
                <a:cs typeface="Arial"/>
              </a:rPr>
              <a:t>Threat Hunting Standards</a:t>
            </a:r>
          </a:p>
          <a:p>
            <a:r>
              <a:rPr lang="en-US" sz="2400">
                <a:latin typeface="Arial"/>
                <a:cs typeface="Arial"/>
              </a:rPr>
              <a:t>Threat Hunting Methods</a:t>
            </a:r>
          </a:p>
          <a:p>
            <a:r>
              <a:rPr lang="en-US" sz="2400">
                <a:latin typeface="Arial"/>
                <a:cs typeface="Arial"/>
              </a:rPr>
              <a:t>Threat Hunting Solutions</a:t>
            </a:r>
            <a:endParaRPr lang="tr-TR" sz="2400">
              <a:latin typeface="Arial"/>
              <a:cs typeface="Arial"/>
            </a:endParaRPr>
          </a:p>
          <a:p>
            <a:r>
              <a:rPr lang="tr-TR" sz="2400" err="1">
                <a:latin typeface="Arial"/>
                <a:cs typeface="Arial"/>
              </a:rPr>
              <a:t>Conclusion</a:t>
            </a:r>
            <a:endParaRPr lang="en-US" sz="2400" err="1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err="1">
                <a:latin typeface="Arial" pitchFamily="34" charset="0"/>
                <a:cs typeface="Arial" pitchFamily="34" charset="0"/>
              </a:rPr>
              <a:t>Motivation</a:t>
            </a:r>
            <a:endParaRPr lang="en-GB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457200" indent="-457200"/>
            <a:r>
              <a:rPr lang="en-US" sz="2400">
                <a:latin typeface="Arial"/>
                <a:ea typeface="+mn-lt"/>
                <a:cs typeface="+mn-lt"/>
              </a:rPr>
              <a:t>The paper focuses on exploring threat hunting methodologies used in enterprise networks. </a:t>
            </a:r>
            <a:endParaRPr lang="tr-TR" sz="2400">
              <a:latin typeface="Arial"/>
              <a:ea typeface="+mn-lt"/>
              <a:cs typeface="Arial"/>
            </a:endParaRPr>
          </a:p>
          <a:p>
            <a:pPr marL="457200" indent="-457200"/>
            <a:r>
              <a:rPr lang="en-US" sz="2400">
                <a:latin typeface="Arial"/>
                <a:ea typeface="+mn-lt"/>
                <a:cs typeface="+mn-lt"/>
              </a:rPr>
              <a:t>Critical evaluation of existing solutions</a:t>
            </a:r>
            <a:endParaRPr lang="en-US" sz="2400">
              <a:latin typeface="Arial"/>
              <a:ea typeface="+mn-lt"/>
              <a:cs typeface="Arial"/>
            </a:endParaRPr>
          </a:p>
          <a:p>
            <a:pPr marL="457200" indent="-457200"/>
            <a:r>
              <a:rPr lang="en-US" sz="2400">
                <a:latin typeface="Arial"/>
                <a:ea typeface="+mn-lt"/>
                <a:cs typeface="+mn-lt"/>
              </a:rPr>
              <a:t>The lack of emphasis enterprises place on threat hunting.</a:t>
            </a:r>
            <a:endParaRPr lang="en-US" sz="2400">
              <a:latin typeface="Arial"/>
              <a:ea typeface="+mn-lt"/>
              <a:cs typeface="Arial"/>
            </a:endParaRPr>
          </a:p>
          <a:p>
            <a:pPr marL="457200" indent="-457200"/>
            <a:r>
              <a:rPr lang="en-US" sz="2400">
                <a:latin typeface="Arial"/>
                <a:ea typeface="+mn-lt"/>
                <a:cs typeface="+mn-lt"/>
              </a:rPr>
              <a:t>We selected this paper because </a:t>
            </a:r>
            <a:r>
              <a:rPr lang="en-US" sz="2400" b="1">
                <a:latin typeface="Arial"/>
                <a:ea typeface="+mn-lt"/>
                <a:cs typeface="+mn-lt"/>
              </a:rPr>
              <a:t>security and threat hunting are critical to the stability and integrity of modern networks</a:t>
            </a:r>
            <a:r>
              <a:rPr lang="en-US" sz="2400">
                <a:latin typeface="Arial"/>
                <a:ea typeface="+mn-lt"/>
                <a:cs typeface="+mn-lt"/>
              </a:rPr>
              <a:t>.</a:t>
            </a:r>
            <a:endParaRPr lang="en-US" sz="2400">
              <a:latin typeface="Arial"/>
              <a:cs typeface="Arial" pitchFamily="34" charset="0"/>
            </a:endParaRPr>
          </a:p>
          <a:p>
            <a:pPr marL="0" indent="0">
              <a:buNone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US" sz="2000">
              <a:latin typeface="Constantia"/>
              <a:cs typeface="Arial"/>
            </a:endParaRPr>
          </a:p>
          <a:p>
            <a:endParaRPr lang="en-GB" sz="2000">
              <a:solidFill>
                <a:srgbClr val="002F8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>
                <a:latin typeface="Arial" pitchFamily="34" charset="0"/>
                <a:cs typeface="Arial" pitchFamily="34" charset="0"/>
              </a:rPr>
              <a:t>Problem Description</a:t>
            </a:r>
            <a:endParaRPr lang="en-GB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latin typeface="Arial"/>
                <a:ea typeface="+mn-lt"/>
                <a:cs typeface="+mn-lt"/>
              </a:rPr>
              <a:t>Failing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to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recognize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the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importance</a:t>
            </a:r>
            <a:r>
              <a:rPr lang="tr-TR" sz="2400">
                <a:latin typeface="Arial"/>
                <a:ea typeface="+mn-lt"/>
                <a:cs typeface="+mn-lt"/>
              </a:rPr>
              <a:t> of </a:t>
            </a:r>
            <a:r>
              <a:rPr lang="tr-TR" sz="2400" err="1"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hunting</a:t>
            </a:r>
            <a:r>
              <a:rPr lang="tr-TR" sz="2400">
                <a:latin typeface="Arial"/>
                <a:ea typeface="+mn-lt"/>
                <a:cs typeface="+mn-lt"/>
              </a:rPr>
              <a:t> as a </a:t>
            </a:r>
            <a:r>
              <a:rPr lang="tr-TR" sz="2400" err="1">
                <a:latin typeface="Arial"/>
                <a:ea typeface="+mn-lt"/>
                <a:cs typeface="+mn-lt"/>
              </a:rPr>
              <a:t>proactive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security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measure</a:t>
            </a:r>
            <a:r>
              <a:rPr lang="tr-TR" sz="2400">
                <a:latin typeface="Arial"/>
                <a:ea typeface="+mn-lt"/>
                <a:cs typeface="+mn-lt"/>
              </a:rPr>
              <a:t>.</a:t>
            </a:r>
            <a:endParaRPr lang="en-US"/>
          </a:p>
          <a:p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Existence of not clearly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understanding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what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entails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including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its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methodologies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essential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concepts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.</a:t>
            </a:r>
            <a:endParaRPr lang="tr-TR"/>
          </a:p>
          <a:p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Lack of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surveys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in-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depth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discussions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on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hunting</a:t>
            </a:r>
            <a:endParaRPr lang="tr-TR" sz="20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Difficult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for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professionals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researchers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to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find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consolidated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knowledge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on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the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topic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.</a:t>
            </a:r>
            <a:endParaRPr lang="tr-TR" sz="2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Overview</a:t>
            </a:r>
            <a:r>
              <a:rPr lang="tr-TR">
                <a:latin typeface="Arial"/>
                <a:cs typeface="Arial"/>
              </a:rPr>
              <a:t> of Project</a:t>
            </a:r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342900" indent="-342900"/>
            <a:r>
              <a:rPr lang="tr-TR" sz="2400" err="1">
                <a:latin typeface="Arial"/>
                <a:ea typeface="+mn-lt"/>
                <a:cs typeface="Arial"/>
              </a:rPr>
              <a:t>The</a:t>
            </a:r>
            <a:r>
              <a:rPr lang="tr-TR" sz="2400">
                <a:latin typeface="Arial"/>
                <a:ea typeface="+mn-lt"/>
                <a:cs typeface="Arial"/>
              </a:rPr>
              <a:t> </a:t>
            </a:r>
            <a:r>
              <a:rPr lang="tr-TR" sz="2400" err="1">
                <a:latin typeface="Arial"/>
                <a:ea typeface="+mn-lt"/>
                <a:cs typeface="Arial"/>
              </a:rPr>
              <a:t>Bird’s-Eye</a:t>
            </a:r>
            <a:r>
              <a:rPr lang="tr-TR" sz="2400">
                <a:latin typeface="Arial"/>
                <a:ea typeface="+mn-lt"/>
                <a:cs typeface="Arial"/>
              </a:rPr>
              <a:t> </a:t>
            </a:r>
            <a:r>
              <a:rPr lang="tr-TR" sz="2400" err="1">
                <a:latin typeface="Arial"/>
                <a:ea typeface="+mn-lt"/>
                <a:cs typeface="Arial"/>
              </a:rPr>
              <a:t>View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</a:p>
          <a:p>
            <a:pPr lvl="1" indent="-246380"/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Actors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Methodology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Types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.</a:t>
            </a:r>
            <a:endParaRPr lang="tr-TR" sz="2000">
              <a:latin typeface="Arial"/>
              <a:cs typeface="Arial"/>
            </a:endParaRPr>
          </a:p>
          <a:p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The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General Architecture </a:t>
            </a:r>
          </a:p>
          <a:p>
            <a:pPr lvl="1" indent="-246380"/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Data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Sources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the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System</a:t>
            </a:r>
            <a:endParaRPr lang="tr-TR" sz="2000">
              <a:latin typeface="Arial"/>
              <a:cs typeface="Arial"/>
            </a:endParaRPr>
          </a:p>
          <a:p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Taxonomy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</a:p>
          <a:p>
            <a:pPr lvl="1" indent="-246380"/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ML/AI,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Rule-Based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 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Statistical-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Based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endParaRPr lang="tr-TR" sz="2000">
              <a:latin typeface="Arial"/>
              <a:cs typeface="Arial"/>
            </a:endParaRPr>
          </a:p>
          <a:p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The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Standardization</a:t>
            </a:r>
            <a:r>
              <a:rPr lang="tr-TR" sz="24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</a:p>
          <a:p>
            <a:pPr lvl="1" indent="-246380"/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MISP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for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intelligence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sharing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the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relationship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between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SIEM/SOAR/XDR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tools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and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threat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ea typeface="+mn-lt"/>
                <a:cs typeface="+mn-lt"/>
              </a:rPr>
              <a:t>hunting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.</a:t>
            </a:r>
            <a:endParaRPr lang="tr-TR" sz="2000">
              <a:latin typeface="Arial"/>
              <a:cs typeface="Arial"/>
            </a:endParaRPr>
          </a:p>
          <a:p>
            <a:pPr marL="0" indent="0">
              <a:buNone/>
            </a:pPr>
            <a:endParaRPr lang="tr-TR" sz="2400"/>
          </a:p>
          <a:p>
            <a:endParaRPr lang="tr-TR" sz="240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Essentials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en-US" sz="2400" b="1">
                <a:latin typeface="Arial"/>
                <a:ea typeface="+mn-lt"/>
                <a:cs typeface="+mn-lt"/>
              </a:rPr>
              <a:t>Threat Actor</a:t>
            </a:r>
            <a:r>
              <a:rPr lang="en-US" sz="2400">
                <a:latin typeface="Arial"/>
                <a:ea typeface="+mn-lt"/>
                <a:cs typeface="+mn-lt"/>
              </a:rPr>
              <a:t>: An individual, group, or entity responsible for initiating a cyberattack or security breach.</a:t>
            </a:r>
            <a:endParaRPr lang="en-US" sz="2400" b="1">
              <a:latin typeface="Arial"/>
              <a:ea typeface="+mn-lt"/>
              <a:cs typeface="+mn-lt"/>
            </a:endParaRPr>
          </a:p>
          <a:p>
            <a:r>
              <a:rPr lang="en-US" sz="2400" b="1">
                <a:latin typeface="Arial"/>
                <a:ea typeface="+mn-lt"/>
                <a:cs typeface="+mn-lt"/>
              </a:rPr>
              <a:t>Attack Vector</a:t>
            </a:r>
            <a:r>
              <a:rPr lang="en-US" sz="2400">
                <a:latin typeface="Arial"/>
                <a:ea typeface="+mn-lt"/>
                <a:cs typeface="+mn-lt"/>
              </a:rPr>
              <a:t>: The method or path used by cybercriminals to breach a system (e.g., phishing, malicious commands, or malware file).</a:t>
            </a:r>
          </a:p>
          <a:p>
            <a:r>
              <a:rPr lang="en-US" sz="2400" b="1">
                <a:latin typeface="Arial"/>
                <a:ea typeface="+mn-lt"/>
                <a:cs typeface="+mn-lt"/>
              </a:rPr>
              <a:t>Incident Response</a:t>
            </a:r>
            <a:r>
              <a:rPr lang="en-US" sz="2400">
                <a:latin typeface="Arial"/>
                <a:ea typeface="+mn-lt"/>
                <a:cs typeface="+mn-lt"/>
              </a:rPr>
              <a:t> is a reactive process that begins after a security breach or event has been detected.</a:t>
            </a:r>
            <a:endParaRPr lang="en-US" sz="2400">
              <a:latin typeface="Arial"/>
              <a:cs typeface="Arial" pitchFamily="34" charset="0"/>
            </a:endParaRPr>
          </a:p>
          <a:p>
            <a:r>
              <a:rPr lang="en-US" sz="2400" b="1">
                <a:latin typeface="Arial"/>
                <a:ea typeface="+mn-lt"/>
                <a:cs typeface="+mn-lt"/>
              </a:rPr>
              <a:t>Threat Hunting</a:t>
            </a:r>
            <a:r>
              <a:rPr lang="en-US" sz="2400">
                <a:latin typeface="Arial"/>
                <a:ea typeface="+mn-lt"/>
                <a:cs typeface="+mn-lt"/>
              </a:rPr>
              <a:t>, on the other hand, is a proactive security practice where security teams actively search for potential threats before they cause harm.</a:t>
            </a:r>
            <a:endParaRPr lang="en-US" sz="2400">
              <a:latin typeface="Arial"/>
              <a:cs typeface="Arial" pitchFamily="34" charset="0"/>
            </a:endParaRPr>
          </a:p>
          <a:p>
            <a:endParaRPr lang="en-US" sz="2400">
              <a:ea typeface="+mn-lt"/>
              <a:cs typeface="+mn-lt"/>
            </a:endParaRPr>
          </a:p>
          <a:p>
            <a:endParaRPr lang="en-US" sz="2400">
              <a:ea typeface="+mn-lt"/>
              <a:cs typeface="+mn-lt"/>
            </a:endParaRPr>
          </a:p>
          <a:p>
            <a:endParaRPr lang="en-US" sz="2400">
              <a:latin typeface="Constantia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Essentials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fontScale="92500"/>
          </a:bodyPr>
          <a:lstStyle/>
          <a:p>
            <a:r>
              <a:rPr lang="en-US" sz="2400" b="1">
                <a:latin typeface="Arial"/>
                <a:cs typeface="Arial"/>
              </a:rPr>
              <a:t>Indicators of Compromise (IOCs)</a:t>
            </a:r>
            <a:r>
              <a:rPr lang="en-US" sz="2400">
                <a:latin typeface="Arial"/>
                <a:cs typeface="Arial"/>
              </a:rPr>
              <a:t>: Artifacts or data that indicate a system has been compromised, such as IP addresses, file hashes, and URLs.</a:t>
            </a:r>
          </a:p>
          <a:p>
            <a:r>
              <a:rPr lang="en-US" sz="2400" b="1">
                <a:latin typeface="Arial"/>
                <a:cs typeface="Arial"/>
              </a:rPr>
              <a:t>Indicators of Attack (IOAs)</a:t>
            </a:r>
            <a:r>
              <a:rPr lang="en-US" sz="2400">
                <a:latin typeface="Arial"/>
                <a:cs typeface="Arial"/>
              </a:rPr>
              <a:t>: Patterns or tactics used by attackers that help identify malicious activity, often before a compromise occurs.</a:t>
            </a:r>
            <a:endParaRPr lang="tr-TR" sz="2400">
              <a:latin typeface="Arial"/>
              <a:cs typeface="Arial"/>
            </a:endParaRPr>
          </a:p>
          <a:p>
            <a:r>
              <a:rPr lang="tr-TR" sz="2400" b="1" err="1">
                <a:latin typeface="Arial"/>
                <a:cs typeface="Arial"/>
              </a:rPr>
              <a:t>Tactics</a:t>
            </a:r>
            <a:r>
              <a:rPr lang="tr-TR" sz="2400" b="1">
                <a:latin typeface="Arial"/>
                <a:ea typeface="+mn-lt"/>
                <a:cs typeface="+mn-lt"/>
              </a:rPr>
              <a:t>, </a:t>
            </a:r>
            <a:r>
              <a:rPr lang="tr-TR" sz="2400" b="1" err="1">
                <a:latin typeface="Arial"/>
                <a:ea typeface="+mn-lt"/>
                <a:cs typeface="+mn-lt"/>
              </a:rPr>
              <a:t>Techniques</a:t>
            </a:r>
            <a:r>
              <a:rPr lang="tr-TR" sz="2400" b="1">
                <a:latin typeface="Arial"/>
                <a:ea typeface="+mn-lt"/>
                <a:cs typeface="+mn-lt"/>
              </a:rPr>
              <a:t>, </a:t>
            </a:r>
            <a:r>
              <a:rPr lang="tr-TR" sz="2400" b="1" err="1">
                <a:latin typeface="Arial"/>
                <a:ea typeface="+mn-lt"/>
                <a:cs typeface="+mn-lt"/>
              </a:rPr>
              <a:t>and</a:t>
            </a:r>
            <a:r>
              <a:rPr lang="tr-TR" sz="2400" b="1">
                <a:latin typeface="Arial"/>
                <a:ea typeface="+mn-lt"/>
                <a:cs typeface="+mn-lt"/>
              </a:rPr>
              <a:t> </a:t>
            </a:r>
            <a:r>
              <a:rPr lang="tr-TR" sz="2400" b="1" err="1">
                <a:latin typeface="Arial"/>
                <a:ea typeface="+mn-lt"/>
                <a:cs typeface="+mn-lt"/>
              </a:rPr>
              <a:t>Procedures</a:t>
            </a:r>
            <a:r>
              <a:rPr lang="tr-TR" sz="2400" b="1">
                <a:latin typeface="Arial"/>
                <a:ea typeface="+mn-lt"/>
                <a:cs typeface="+mn-lt"/>
              </a:rPr>
              <a:t> (</a:t>
            </a:r>
            <a:r>
              <a:rPr lang="tr-TR" sz="2400" b="1" err="1">
                <a:latin typeface="Arial"/>
                <a:ea typeface="+mn-lt"/>
                <a:cs typeface="+mn-lt"/>
              </a:rPr>
              <a:t>TTPs</a:t>
            </a:r>
            <a:r>
              <a:rPr lang="tr-TR" sz="2400" b="1">
                <a:latin typeface="Arial"/>
                <a:ea typeface="+mn-lt"/>
                <a:cs typeface="+mn-lt"/>
              </a:rPr>
              <a:t>)</a:t>
            </a:r>
            <a:r>
              <a:rPr lang="tr-TR" sz="2400">
                <a:latin typeface="Arial"/>
                <a:ea typeface="+mn-lt"/>
                <a:cs typeface="+mn-lt"/>
              </a:rPr>
              <a:t>: </a:t>
            </a:r>
            <a:r>
              <a:rPr lang="tr-TR" sz="2400" err="1">
                <a:latin typeface="Arial"/>
                <a:ea typeface="+mn-lt"/>
                <a:cs typeface="+mn-lt"/>
              </a:rPr>
              <a:t>The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behavior</a:t>
            </a:r>
            <a:r>
              <a:rPr lang="tr-TR" sz="2400">
                <a:latin typeface="Arial"/>
                <a:ea typeface="+mn-lt"/>
                <a:cs typeface="+mn-lt"/>
              </a:rPr>
              <a:t> of </a:t>
            </a:r>
            <a:r>
              <a:rPr lang="tr-TR" sz="2400" err="1"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actors</a:t>
            </a:r>
            <a:r>
              <a:rPr lang="tr-TR" sz="2400">
                <a:latin typeface="Arial"/>
                <a:ea typeface="+mn-lt"/>
                <a:cs typeface="+mn-lt"/>
              </a:rPr>
              <a:t>, </a:t>
            </a:r>
            <a:r>
              <a:rPr lang="tr-TR" sz="2400" err="1">
                <a:latin typeface="Arial"/>
                <a:ea typeface="+mn-lt"/>
                <a:cs typeface="+mn-lt"/>
              </a:rPr>
              <a:t>used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to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identify</a:t>
            </a:r>
            <a:r>
              <a:rPr lang="tr-TR" sz="2400">
                <a:latin typeface="Arial"/>
                <a:ea typeface="+mn-lt"/>
                <a:cs typeface="+mn-lt"/>
              </a:rPr>
              <a:t>, </a:t>
            </a:r>
            <a:r>
              <a:rPr lang="tr-TR" sz="2400" err="1">
                <a:latin typeface="Arial"/>
                <a:ea typeface="+mn-lt"/>
                <a:cs typeface="+mn-lt"/>
              </a:rPr>
              <a:t>track</a:t>
            </a:r>
            <a:r>
              <a:rPr lang="tr-TR" sz="2400">
                <a:latin typeface="Arial"/>
                <a:ea typeface="+mn-lt"/>
                <a:cs typeface="+mn-lt"/>
              </a:rPr>
              <a:t>, </a:t>
            </a:r>
            <a:r>
              <a:rPr lang="tr-TR" sz="2400" err="1">
                <a:latin typeface="Arial"/>
                <a:ea typeface="+mn-lt"/>
                <a:cs typeface="+mn-lt"/>
              </a:rPr>
              <a:t>and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defend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against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cyberattacks</a:t>
            </a:r>
            <a:r>
              <a:rPr lang="tr-TR" sz="2400">
                <a:latin typeface="Arial"/>
                <a:ea typeface="+mn-lt"/>
                <a:cs typeface="+mn-lt"/>
              </a:rPr>
              <a:t>.</a:t>
            </a:r>
            <a:endParaRPr lang="tr-TR" sz="2400">
              <a:solidFill>
                <a:srgbClr val="002F8E"/>
              </a:solidFill>
              <a:latin typeface="Arial"/>
              <a:cs typeface="Arial" pitchFamily="34" charset="0"/>
            </a:endParaRPr>
          </a:p>
          <a:p>
            <a:r>
              <a:rPr lang="en-US" sz="2400" b="1">
                <a:latin typeface="Arial"/>
                <a:cs typeface="Arial"/>
              </a:rPr>
              <a:t>Advanced Persistent Threat (APT)</a:t>
            </a:r>
            <a:r>
              <a:rPr lang="en-US" sz="2400">
                <a:latin typeface="Arial"/>
                <a:cs typeface="Arial"/>
              </a:rPr>
              <a:t>: A prolonged and targeted cyberattack where attackers stealthily gain access to a network for espionage or other malicious purposes.</a:t>
            </a:r>
            <a:endParaRPr lang="tr-TR" sz="2400">
              <a:latin typeface="Arial"/>
              <a:cs typeface="Arial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Architecture</a:t>
            </a:r>
            <a:endParaRPr lang="tr-TR" b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 lang="tr-TR" sz="2400">
              <a:latin typeface="Arial" pitchFamily="34" charset="0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 diagram of a security system&#10;&#10;Description automatically generated">
            <a:extLst>
              <a:ext uri="{FF2B5EF4-FFF2-40B4-BE49-F238E27FC236}">
                <a16:creationId xmlns:a16="http://schemas.microsoft.com/office/drawing/2014/main" id="{1300A54A-C1CB-E979-E935-CB3A7827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55" y="2785030"/>
            <a:ext cx="4108087" cy="2692345"/>
          </a:xfrm>
          <a:prstGeom prst="rect">
            <a:avLst/>
          </a:prstGeom>
        </p:spPr>
      </p:pic>
      <p:pic>
        <p:nvPicPr>
          <p:cNvPr id="6" name="Picture 5" descr="A diagram of a system&#10;&#10;Description automatically generated">
            <a:extLst>
              <a:ext uri="{FF2B5EF4-FFF2-40B4-BE49-F238E27FC236}">
                <a16:creationId xmlns:a16="http://schemas.microsoft.com/office/drawing/2014/main" id="{7559E7C8-8A4B-3D41-804D-ACC9EECD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82" y="1933015"/>
            <a:ext cx="37338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Essentials</a:t>
            </a:r>
            <a:endParaRPr lang="tr-TR" b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latin typeface="Arial"/>
                <a:ea typeface="+mn-lt"/>
                <a:cs typeface="+mn-lt"/>
              </a:rPr>
              <a:t>Threat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Hunting</a:t>
            </a:r>
            <a:r>
              <a:rPr lang="tr-TR" sz="2400">
                <a:latin typeface="Arial"/>
                <a:ea typeface="+mn-lt"/>
                <a:cs typeface="+mn-lt"/>
              </a:rPr>
              <a:t> </a:t>
            </a:r>
            <a:r>
              <a:rPr lang="tr-TR" sz="2400" err="1">
                <a:latin typeface="Arial"/>
                <a:ea typeface="+mn-lt"/>
                <a:cs typeface="+mn-lt"/>
              </a:rPr>
              <a:t>Methodology</a:t>
            </a:r>
            <a:endParaRPr lang="en-US" sz="2400">
              <a:latin typeface="Arial"/>
              <a:cs typeface="Arial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r>
              <a:rPr lang="tr-TR" sz="2000">
                <a:latin typeface="Arial"/>
                <a:cs typeface="Arial"/>
              </a:rPr>
              <a:t>New </a:t>
            </a:r>
            <a:r>
              <a:rPr lang="tr-TR" sz="2000" err="1">
                <a:latin typeface="Arial"/>
                <a:cs typeface="Arial"/>
              </a:rPr>
              <a:t>IOCs</a:t>
            </a:r>
            <a:r>
              <a:rPr lang="tr-TR" sz="2000">
                <a:latin typeface="Arial"/>
                <a:cs typeface="Arial"/>
              </a:rPr>
              <a:t>, </a:t>
            </a:r>
            <a:r>
              <a:rPr lang="tr-TR" sz="2000" err="1">
                <a:latin typeface="Arial"/>
                <a:cs typeface="Arial"/>
              </a:rPr>
              <a:t>IOAs</a:t>
            </a:r>
            <a:r>
              <a:rPr lang="tr-TR" sz="2000">
                <a:latin typeface="Arial"/>
                <a:cs typeface="Arial"/>
              </a:rPr>
              <a:t>, </a:t>
            </a:r>
            <a:r>
              <a:rPr lang="tr-TR" sz="2000" err="1">
                <a:latin typeface="Arial"/>
                <a:cs typeface="Arial"/>
              </a:rPr>
              <a:t>TTPs</a:t>
            </a:r>
            <a:r>
              <a:rPr lang="tr-TR" sz="2000">
                <a:latin typeface="Arial"/>
                <a:cs typeface="Arial"/>
              </a:rPr>
              <a:t> of APT </a:t>
            </a:r>
            <a:r>
              <a:rPr lang="tr-TR" sz="2000" err="1">
                <a:latin typeface="Arial"/>
                <a:cs typeface="Arial"/>
              </a:rPr>
              <a:t>groups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obtained</a:t>
            </a:r>
            <a:r>
              <a:rPr lang="tr-TR" sz="2000">
                <a:latin typeface="Arial"/>
                <a:cs typeface="Arial"/>
              </a:rPr>
              <a:t> </a:t>
            </a:r>
            <a:r>
              <a:rPr lang="tr-TR" sz="2000" err="1">
                <a:latin typeface="Arial"/>
                <a:cs typeface="Arial"/>
              </a:rPr>
              <a:t>from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Threat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Intelligence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services</a:t>
            </a:r>
            <a:r>
              <a:rPr lang="tr-TR" sz="2000">
                <a:latin typeface="Arial"/>
                <a:cs typeface="Arial"/>
              </a:rPr>
              <a:t>.</a:t>
            </a:r>
            <a:endParaRPr lang="tr-TR" sz="2000">
              <a:latin typeface="Arial"/>
              <a:cs typeface="Arial" pitchFamily="34" charset="0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r>
              <a:rPr lang="tr-TR" sz="2000" err="1">
                <a:latin typeface="Arial"/>
                <a:cs typeface="Arial"/>
              </a:rPr>
              <a:t>Hyphothesis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formulated</a:t>
            </a:r>
            <a:r>
              <a:rPr lang="tr-TR" sz="2000">
                <a:latin typeface="Arial"/>
                <a:cs typeface="Arial"/>
              </a:rPr>
              <a:t> as "</a:t>
            </a:r>
            <a:r>
              <a:rPr lang="tr-TR" sz="2000" err="1">
                <a:latin typeface="Arial"/>
                <a:cs typeface="Arial"/>
              </a:rPr>
              <a:t>This</a:t>
            </a:r>
            <a:r>
              <a:rPr lang="tr-TR" sz="2000">
                <a:latin typeface="Arial"/>
                <a:cs typeface="Arial"/>
              </a:rPr>
              <a:t> [</a:t>
            </a:r>
            <a:r>
              <a:rPr lang="tr-TR" sz="2000" err="1">
                <a:latin typeface="Arial"/>
                <a:cs typeface="Arial"/>
              </a:rPr>
              <a:t>attack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vector</a:t>
            </a:r>
            <a:r>
              <a:rPr lang="tr-TR" sz="2000">
                <a:latin typeface="Arial"/>
                <a:cs typeface="Arial"/>
              </a:rPr>
              <a:t>] of [APT </a:t>
            </a:r>
            <a:r>
              <a:rPr lang="tr-TR" sz="2000" err="1">
                <a:latin typeface="Arial"/>
                <a:cs typeface="Arial"/>
              </a:rPr>
              <a:t>group</a:t>
            </a:r>
            <a:r>
              <a:rPr lang="tr-TR" sz="2000">
                <a:latin typeface="Arial"/>
                <a:cs typeface="Arial"/>
              </a:rPr>
              <a:t>] has </a:t>
            </a:r>
            <a:r>
              <a:rPr lang="tr-TR" sz="2000" err="1">
                <a:latin typeface="Arial"/>
                <a:cs typeface="Arial"/>
              </a:rPr>
              <a:t>infiltrated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our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internal</a:t>
            </a:r>
            <a:r>
              <a:rPr lang="tr-TR" sz="2000">
                <a:latin typeface="Arial"/>
                <a:cs typeface="Arial"/>
              </a:rPr>
              <a:t> network. </a:t>
            </a:r>
            <a:r>
              <a:rPr lang="tr-TR" sz="2000" err="1">
                <a:latin typeface="Arial"/>
                <a:cs typeface="Arial"/>
              </a:rPr>
              <a:t>The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attack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vector</a:t>
            </a:r>
            <a:r>
              <a:rPr lang="tr-TR" sz="2000">
                <a:latin typeface="Arial"/>
                <a:cs typeface="Arial"/>
              </a:rPr>
              <a:t> they </a:t>
            </a:r>
            <a:r>
              <a:rPr lang="tr-TR" sz="2000" err="1">
                <a:latin typeface="Arial"/>
                <a:cs typeface="Arial"/>
              </a:rPr>
              <a:t>use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includes</a:t>
            </a:r>
            <a:r>
              <a:rPr lang="tr-TR" sz="2000">
                <a:latin typeface="Arial"/>
                <a:cs typeface="Arial"/>
              </a:rPr>
              <a:t> [</a:t>
            </a:r>
            <a:r>
              <a:rPr lang="tr-TR" sz="2000" err="1">
                <a:latin typeface="Arial"/>
                <a:cs typeface="Arial"/>
              </a:rPr>
              <a:t>those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IOCs</a:t>
            </a:r>
            <a:r>
              <a:rPr lang="tr-TR" sz="2000">
                <a:latin typeface="Arial"/>
                <a:cs typeface="Arial"/>
              </a:rPr>
              <a:t>, </a:t>
            </a:r>
            <a:r>
              <a:rPr lang="tr-TR" sz="2000" err="1">
                <a:latin typeface="Arial"/>
                <a:cs typeface="Arial"/>
              </a:rPr>
              <a:t>IOAs</a:t>
            </a:r>
            <a:r>
              <a:rPr lang="tr-TR" sz="2000">
                <a:latin typeface="Arial"/>
                <a:cs typeface="Arial"/>
              </a:rPr>
              <a:t>, </a:t>
            </a:r>
            <a:r>
              <a:rPr lang="tr-TR" sz="2000" err="1">
                <a:latin typeface="Arial"/>
                <a:cs typeface="Arial"/>
              </a:rPr>
              <a:t>TTPs</a:t>
            </a:r>
            <a:r>
              <a:rPr lang="tr-TR" sz="2000">
                <a:latin typeface="Arial"/>
                <a:cs typeface="Arial"/>
              </a:rPr>
              <a:t>]."</a:t>
            </a:r>
            <a:endParaRPr lang="tr-TR" sz="2000">
              <a:latin typeface="Arial"/>
              <a:cs typeface="Arial" pitchFamily="34" charset="0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r>
              <a:rPr lang="tr-TR" sz="2000" err="1">
                <a:latin typeface="Arial"/>
                <a:cs typeface="Arial"/>
              </a:rPr>
              <a:t>Validity</a:t>
            </a:r>
            <a:r>
              <a:rPr lang="tr-TR" sz="2000">
                <a:latin typeface="Arial"/>
                <a:cs typeface="Arial"/>
              </a:rPr>
              <a:t> of </a:t>
            </a:r>
            <a:r>
              <a:rPr lang="tr-TR" sz="2000" err="1">
                <a:latin typeface="Arial"/>
                <a:cs typeface="Arial"/>
              </a:rPr>
              <a:t>hyphothesis</a:t>
            </a:r>
            <a:r>
              <a:rPr lang="tr-TR" sz="2000">
                <a:latin typeface="Arial"/>
                <a:cs typeface="Arial"/>
              </a:rPr>
              <a:t> is </a:t>
            </a:r>
            <a:r>
              <a:rPr lang="tr-TR" sz="2000" err="1">
                <a:latin typeface="Arial"/>
                <a:cs typeface="Arial"/>
              </a:rPr>
              <a:t>evalueted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by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investigation</a:t>
            </a:r>
            <a:r>
              <a:rPr lang="tr-TR" sz="2000">
                <a:latin typeface="Arial"/>
                <a:cs typeface="Arial"/>
              </a:rPr>
              <a:t> of network </a:t>
            </a:r>
            <a:r>
              <a:rPr lang="tr-TR" sz="2000" err="1">
                <a:latin typeface="Arial"/>
                <a:cs typeface="Arial"/>
              </a:rPr>
              <a:t>by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threat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hunting</a:t>
            </a:r>
            <a:r>
              <a:rPr lang="tr-TR" sz="2000">
                <a:latin typeface="Arial"/>
                <a:cs typeface="Arial"/>
              </a:rPr>
              <a:t> </a:t>
            </a:r>
            <a:r>
              <a:rPr lang="tr-TR" sz="2000" err="1">
                <a:latin typeface="Arial"/>
                <a:cs typeface="Arial"/>
              </a:rPr>
              <a:t>experts</a:t>
            </a:r>
            <a:r>
              <a:rPr lang="tr-TR" sz="2000">
                <a:latin typeface="Arial"/>
                <a:cs typeface="Arial"/>
              </a:rPr>
              <a:t>.</a:t>
            </a:r>
            <a:endParaRPr lang="tr-TR" sz="2000">
              <a:latin typeface="Arial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Architecture</a:t>
            </a:r>
            <a:endParaRPr lang="tr-TR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Hyphothesis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generation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: </a:t>
            </a:r>
            <a:endParaRPr lang="tr-TR" sz="2400">
              <a:solidFill>
                <a:srgbClr val="39434C"/>
              </a:solidFill>
              <a:latin typeface="Arial"/>
              <a:cs typeface="Arial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[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Pikabot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Malware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] of [Wizard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Spider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APT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Group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] has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infiltrated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our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internal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network. </a:t>
            </a:r>
            <a:endParaRPr lang="tr-TR" sz="2000">
              <a:solidFill>
                <a:srgbClr val="39434C"/>
              </a:solidFill>
              <a:latin typeface="Arial"/>
              <a:cs typeface="Arial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attack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they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includes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malicious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file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sha256 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9b8ffdc8ba2b2caa485cca56a82b2dcbd251f65fb30bc88f0ac3da6704e4d3c6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sent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HTTP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DNS data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exfiltration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 err="1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*.dns.steasteel.net</a:t>
            </a:r>
            <a:r>
              <a:rPr lang="tr-TR" sz="200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tr-TR" sz="2000">
              <a:solidFill>
                <a:srgbClr val="39434C"/>
              </a:solidFill>
              <a:latin typeface="Arial"/>
              <a:cs typeface="Arial"/>
            </a:endParaRPr>
          </a:p>
          <a:p>
            <a:r>
              <a:rPr lang="tr-TR" sz="2400">
                <a:latin typeface="Arial"/>
                <a:cs typeface="Arial"/>
              </a:rPr>
              <a:t>IOC: sha256 </a:t>
            </a:r>
            <a:r>
              <a:rPr lang="tr-TR" sz="2400" err="1">
                <a:latin typeface="Arial"/>
                <a:cs typeface="Arial"/>
              </a:rPr>
              <a:t>value</a:t>
            </a:r>
            <a:r>
              <a:rPr lang="tr-TR" sz="2400">
                <a:latin typeface="Arial"/>
                <a:cs typeface="Arial"/>
              </a:rPr>
              <a:t>, IOA </a:t>
            </a:r>
            <a:r>
              <a:rPr lang="tr-TR" sz="2400" err="1">
                <a:latin typeface="Arial"/>
                <a:cs typeface="Arial"/>
              </a:rPr>
              <a:t>and</a:t>
            </a:r>
            <a:r>
              <a:rPr lang="tr-TR" sz="2400">
                <a:latin typeface="Arial"/>
                <a:cs typeface="Arial"/>
              </a:rPr>
              <a:t> </a:t>
            </a:r>
            <a:r>
              <a:rPr lang="tr-TR" sz="2400" err="1">
                <a:latin typeface="Arial"/>
                <a:cs typeface="Arial"/>
              </a:rPr>
              <a:t>TTPs</a:t>
            </a:r>
            <a:r>
              <a:rPr lang="tr-TR" sz="2400">
                <a:latin typeface="Arial"/>
                <a:cs typeface="Arial"/>
              </a:rPr>
              <a:t>: </a:t>
            </a:r>
            <a:r>
              <a:rPr lang="tr-TR" sz="2400" err="1">
                <a:latin typeface="Arial"/>
                <a:cs typeface="Arial"/>
              </a:rPr>
              <a:t>Malware</a:t>
            </a:r>
            <a:r>
              <a:rPr lang="tr-TR" sz="2400">
                <a:latin typeface="Arial"/>
                <a:cs typeface="Arial"/>
              </a:rPr>
              <a:t> </a:t>
            </a:r>
            <a:r>
              <a:rPr lang="tr-TR" sz="2400" err="1">
                <a:latin typeface="Arial"/>
                <a:cs typeface="Arial"/>
              </a:rPr>
              <a:t>usage</a:t>
            </a:r>
            <a:r>
              <a:rPr lang="tr-TR" sz="2400">
                <a:latin typeface="Arial"/>
                <a:cs typeface="Arial"/>
              </a:rPr>
              <a:t>, data </a:t>
            </a:r>
            <a:r>
              <a:rPr lang="tr-TR" sz="2400" err="1">
                <a:latin typeface="Arial"/>
                <a:cs typeface="Arial"/>
              </a:rPr>
              <a:t>exfiltration</a:t>
            </a:r>
            <a:r>
              <a:rPr lang="tr-TR" sz="2400">
                <a:latin typeface="Arial"/>
                <a:cs typeface="Arial"/>
              </a:rPr>
              <a:t> </a:t>
            </a:r>
            <a:r>
              <a:rPr lang="tr-TR" sz="2400" err="1">
                <a:latin typeface="Arial"/>
                <a:cs typeface="Arial"/>
              </a:rPr>
              <a:t>using</a:t>
            </a:r>
            <a:r>
              <a:rPr lang="tr-TR" sz="2400">
                <a:latin typeface="Arial"/>
                <a:cs typeface="Arial"/>
              </a:rPr>
              <a:t> DNS </a:t>
            </a:r>
            <a:r>
              <a:rPr lang="tr-TR" sz="2400" err="1">
                <a:latin typeface="Arial"/>
                <a:cs typeface="Arial"/>
              </a:rPr>
              <a:t>channel</a:t>
            </a:r>
            <a:endParaRPr lang="tr-TR" sz="2400">
              <a:latin typeface="Arial" pitchFamily="34" charset="0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8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Architecture</a:t>
            </a:r>
            <a:endParaRPr lang="tr-TR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Hyphothesis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validation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lang="tr-TR" sz="2400">
              <a:solidFill>
                <a:srgbClr val="39434C"/>
              </a:solidFill>
              <a:latin typeface="Arial"/>
              <a:cs typeface="Arial"/>
            </a:endParaRPr>
          </a:p>
          <a:p>
            <a:endParaRPr lang="tr-TR" sz="2400">
              <a:latin typeface="Arial" pitchFamily="34" charset="0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BDB7A4E-E0CA-F74A-4CD3-D05B3E05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31" y="2403279"/>
            <a:ext cx="7647337" cy="38146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Architecture</a:t>
            </a:r>
            <a:endParaRPr lang="tr-TR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Hyphothesis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tr-TR" sz="2400" err="1">
                <a:solidFill>
                  <a:srgbClr val="000000"/>
                </a:solidFill>
                <a:latin typeface="Arial"/>
                <a:cs typeface="Arial"/>
              </a:rPr>
              <a:t>validation</a:t>
            </a:r>
            <a:r>
              <a:rPr lang="tr-TR" sz="2400">
                <a:solidFill>
                  <a:srgbClr val="000000"/>
                </a:solidFill>
                <a:latin typeface="Arial"/>
                <a:cs typeface="Arial"/>
              </a:rPr>
              <a:t>: </a:t>
            </a:r>
            <a:endParaRPr lang="tr-TR" sz="2400">
              <a:solidFill>
                <a:srgbClr val="39434C"/>
              </a:solidFill>
              <a:latin typeface="Arial"/>
              <a:cs typeface="Arial"/>
            </a:endParaRPr>
          </a:p>
          <a:p>
            <a:pPr lvl="1" indent="-246380">
              <a:buClr>
                <a:srgbClr val="0F6FC6"/>
              </a:buClr>
              <a:buFont typeface="Courier New"/>
              <a:buChar char="o"/>
            </a:pPr>
            <a:endParaRPr lang="tr-TR" sz="2000">
              <a:latin typeface="Constantia"/>
              <a:cs typeface="Arial" pitchFamily="34" charset="0"/>
            </a:endParaRPr>
          </a:p>
          <a:p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C64AF45-4404-4111-AF51-FC98A50EB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1" y="2384966"/>
            <a:ext cx="7720852" cy="397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Standards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Cyber Threat Intelligence (CTI) Sharing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en-GB" sz="2400">
              <a:latin typeface="Arial"/>
              <a:cs typeface="Arial"/>
            </a:endParaRPr>
          </a:p>
          <a:p>
            <a:pPr marL="731520" lvl="1" indent="-246380">
              <a:buClr>
                <a:srgbClr val="002F8E"/>
              </a:buClr>
              <a:buSzPct val="95000"/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Improves automated threat hunting.</a:t>
            </a:r>
          </a:p>
          <a:p>
            <a:pPr marL="731520" lvl="1" indent="-246380">
              <a:buClr>
                <a:srgbClr val="002F8E"/>
              </a:buClr>
              <a:buSzPct val="95000"/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Standardized formats and methodologies are needed for structuring and representing information.</a:t>
            </a:r>
            <a:endParaRPr lang="en-GB"/>
          </a:p>
          <a:p>
            <a:pPr marL="0" indent="0"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Data Representation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en-GB" sz="2400">
              <a:latin typeface="Arial"/>
              <a:cs typeface="Arial"/>
            </a:endParaRP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STIX facilitates threat pattern detection, TTP representation.</a:t>
            </a: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Enables consistent sharing and collaboration across organizations.</a:t>
            </a:r>
            <a:endParaRPr lang="en-GB"/>
          </a:p>
          <a:p>
            <a:endParaRPr lang="en-GB" sz="3200">
              <a:latin typeface="Arial"/>
              <a:cs typeface="Arial"/>
            </a:endParaRPr>
          </a:p>
          <a:p>
            <a:endParaRPr lang="en-GB" sz="24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66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>
                <a:latin typeface="Arial"/>
                <a:cs typeface="Arial"/>
              </a:rPr>
              <a:t>STIX</a:t>
            </a:r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İçerik Yer Tutucusu 6" descr="metin, yazı tipi, doküman, belge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1CA7F5D1-417A-D59F-0550-D0979A5DD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487" y="1935480"/>
            <a:ext cx="4017025" cy="4389120"/>
          </a:xfr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F5B25100-2771-5532-9EBE-A581FCC6D234}"/>
              </a:ext>
            </a:extLst>
          </p:cNvPr>
          <p:cNvSpPr txBox="1"/>
          <p:nvPr/>
        </p:nvSpPr>
        <p:spPr>
          <a:xfrm>
            <a:off x="3225384" y="6323352"/>
            <a:ext cx="2693233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rial"/>
                <a:cs typeface="Arial"/>
              </a:rPr>
              <a:t>Indicator for Malicious URL</a:t>
            </a:r>
          </a:p>
        </p:txBody>
      </p:sp>
    </p:spTree>
    <p:extLst>
      <p:ext uri="{BB962C8B-B14F-4D97-AF65-F5344CB8AC3E}">
        <p14:creationId xmlns:p14="http://schemas.microsoft.com/office/powerpoint/2010/main" val="4168993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Standards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Query Languages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tr-TR" sz="2400">
              <a:latin typeface="Arial"/>
              <a:ea typeface="+mn-lt"/>
              <a:cs typeface="Arial"/>
            </a:endParaRPr>
          </a:p>
          <a:p>
            <a:pPr lvl="1" indent="-246380"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Interoperability among cybersecurity tools.</a:t>
            </a:r>
            <a:endParaRPr lang="tr-TR">
              <a:latin typeface="Arial"/>
              <a:ea typeface="+mn-lt"/>
              <a:cs typeface="Arial"/>
            </a:endParaRPr>
          </a:p>
          <a:p>
            <a:pPr lvl="1" indent="-246380">
              <a:buClr>
                <a:srgbClr val="002F8E"/>
              </a:buClr>
              <a:buSzPct val="95000"/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IBM Kestrel efficient threat hunting processes by data consolidation.</a:t>
            </a:r>
          </a:p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Operational Languages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Workflow automation and better integration.</a:t>
            </a:r>
            <a:endParaRPr lang="en-GB" sz="2400">
              <a:latin typeface="Arial"/>
              <a:cs typeface="Arial"/>
            </a:endParaRPr>
          </a:p>
          <a:p>
            <a:endParaRPr lang="en-GB" sz="24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0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Standards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Sharing Platforms:</a:t>
            </a:r>
            <a:endParaRPr lang="tr-TR" sz="3200">
              <a:latin typeface="Arial"/>
              <a:cs typeface="Arial"/>
            </a:endParaRPr>
          </a:p>
          <a:p>
            <a:pPr marL="736600" lvl="1" indent="-342900"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MISP (Malware Information Sharing Platform)</a:t>
            </a:r>
            <a:r>
              <a:rPr lang="en-GB">
                <a:latin typeface="Arial"/>
                <a:ea typeface="+mn-lt"/>
                <a:cs typeface="Arial"/>
              </a:rPr>
              <a:t>: Store, share, correlation of </a:t>
            </a:r>
            <a:r>
              <a:rPr lang="en-GB" err="1">
                <a:latin typeface="Arial"/>
                <a:ea typeface="+mn-lt"/>
                <a:cs typeface="Arial"/>
              </a:rPr>
              <a:t>IoCs</a:t>
            </a:r>
            <a:r>
              <a:rPr lang="en-GB">
                <a:latin typeface="Arial"/>
                <a:ea typeface="+mn-lt"/>
                <a:cs typeface="Arial"/>
              </a:rPr>
              <a:t>.</a:t>
            </a:r>
            <a:endParaRPr lang="en-GB">
              <a:latin typeface="Arial"/>
              <a:cs typeface="Arial"/>
            </a:endParaRPr>
          </a:p>
          <a:p>
            <a:pPr marL="736600" lvl="1" indent="-342900">
              <a:buClr>
                <a:srgbClr val="0F6FC6"/>
              </a:buClr>
              <a:buFont typeface="Courier New"/>
              <a:buChar char="o"/>
            </a:pPr>
            <a:r>
              <a:rPr lang="en-GB" b="1" err="1">
                <a:latin typeface="Arial"/>
                <a:ea typeface="+mn-lt"/>
                <a:cs typeface="Arial"/>
              </a:rPr>
              <a:t>OpenDXL</a:t>
            </a:r>
            <a:r>
              <a:rPr lang="en-GB" b="1">
                <a:latin typeface="Arial"/>
                <a:ea typeface="+mn-lt"/>
                <a:cs typeface="Arial"/>
              </a:rPr>
              <a:t> (Data Exchange Layer)</a:t>
            </a:r>
            <a:r>
              <a:rPr lang="en-GB">
                <a:latin typeface="Arial"/>
                <a:ea typeface="+mn-lt"/>
                <a:cs typeface="Arial"/>
              </a:rPr>
              <a:t>: Data integration.</a:t>
            </a:r>
            <a:endParaRPr lang="en-GB">
              <a:latin typeface="Arial"/>
              <a:cs typeface="Arial"/>
            </a:endParaRPr>
          </a:p>
          <a:p>
            <a:pPr marL="736600" lvl="1" indent="-342900">
              <a:buClr>
                <a:srgbClr val="0F6FC6"/>
              </a:buClr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OpenC2</a:t>
            </a:r>
            <a:r>
              <a:rPr lang="en-GB">
                <a:latin typeface="Arial"/>
                <a:ea typeface="+mn-lt"/>
                <a:cs typeface="Arial"/>
              </a:rPr>
              <a:t>: Command standardization and automation.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endParaRPr lang="en-GB">
              <a:latin typeface="Arial"/>
              <a:ea typeface="+mn-lt"/>
              <a:cs typeface="Arial"/>
            </a:endParaRPr>
          </a:p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Testbeds for Security and Analysis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en-GB" sz="3200">
              <a:latin typeface="Arial"/>
              <a:ea typeface="+mn-lt"/>
              <a:cs typeface="Arial"/>
            </a:endParaRPr>
          </a:p>
          <a:p>
            <a:pPr marL="679450" lvl="1" indent="-285750">
              <a:buClr>
                <a:srgbClr val="002F8E"/>
              </a:buClr>
              <a:buSzPct val="95000"/>
              <a:buFont typeface="Courier New"/>
              <a:buChar char="o"/>
            </a:pPr>
            <a:r>
              <a:rPr lang="en-GB" b="1" err="1">
                <a:latin typeface="Arial"/>
                <a:ea typeface="+mn-lt"/>
                <a:cs typeface="Arial"/>
              </a:rPr>
              <a:t>DeterLab</a:t>
            </a:r>
            <a:r>
              <a:rPr lang="en-GB">
                <a:latin typeface="Arial"/>
                <a:ea typeface="+mn-lt"/>
                <a:cs typeface="Arial"/>
              </a:rPr>
              <a:t>: Focusing on scenario-based evaluations.</a:t>
            </a:r>
          </a:p>
          <a:p>
            <a:pPr marL="679450" lvl="1" indent="-285750">
              <a:buClr>
                <a:srgbClr val="002F8E"/>
              </a:buClr>
              <a:buSzPct val="95000"/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Cyber Range</a:t>
            </a:r>
            <a:r>
              <a:rPr lang="en-GB">
                <a:latin typeface="Arial"/>
                <a:ea typeface="+mn-lt"/>
                <a:cs typeface="Arial"/>
              </a:rPr>
              <a:t>: A simulated enterprise environment.</a:t>
            </a: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endParaRPr lang="en-GB" sz="2000">
              <a:latin typeface="Arial"/>
              <a:ea typeface="+mn-lt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70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Methods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fontScale="92500"/>
          </a:bodyPr>
          <a:lstStyle/>
          <a:p>
            <a:pPr>
              <a:buNone/>
            </a:pPr>
            <a:r>
              <a:rPr lang="en-GB" b="1">
                <a:latin typeface="Arial"/>
                <a:ea typeface="+mn-lt"/>
                <a:cs typeface="Arial"/>
              </a:rPr>
              <a:t>Machine Learning and AI:</a:t>
            </a:r>
            <a:endParaRPr lang="tr-TR">
              <a:latin typeface="Arial"/>
              <a:cs typeface="Arial"/>
            </a:endParaRPr>
          </a:p>
          <a:p>
            <a:pPr marL="679450" lvl="1" indent="-285750">
              <a:buFont typeface="Courier New"/>
              <a:buChar char="o"/>
            </a:pPr>
            <a:r>
              <a:rPr lang="en-GB" sz="2600" b="1">
                <a:latin typeface="Arial"/>
                <a:ea typeface="+mn-lt"/>
                <a:cs typeface="Arial"/>
              </a:rPr>
              <a:t>Supervised Learning</a:t>
            </a:r>
            <a:r>
              <a:rPr lang="en-GB" sz="2600">
                <a:latin typeface="Arial"/>
                <a:ea typeface="+mn-lt"/>
                <a:cs typeface="Arial"/>
              </a:rPr>
              <a:t>:</a:t>
            </a:r>
            <a:endParaRPr lang="en-GB" sz="2600">
              <a:latin typeface="Arial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200">
                <a:latin typeface="Arial"/>
                <a:ea typeface="+mn-lt"/>
                <a:cs typeface="Arial"/>
              </a:rPr>
              <a:t>Struggles with zero-day threats or novel attack patterns not in the training data.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sz="2600" b="1">
                <a:latin typeface="Arial"/>
                <a:ea typeface="+mn-lt"/>
                <a:cs typeface="Arial"/>
              </a:rPr>
              <a:t>Unsupervised Learning</a:t>
            </a:r>
            <a:r>
              <a:rPr lang="en-GB" sz="2600">
                <a:latin typeface="Arial"/>
                <a:ea typeface="+mn-lt"/>
                <a:cs typeface="Arial"/>
              </a:rPr>
              <a:t>: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200">
                <a:latin typeface="Arial"/>
                <a:ea typeface="+mn-lt"/>
                <a:cs typeface="Arial"/>
              </a:rPr>
              <a:t>Clusters data to identify outliers or unknown threats.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200">
                <a:latin typeface="Arial"/>
                <a:ea typeface="+mn-lt"/>
                <a:cs typeface="Arial"/>
              </a:rPr>
              <a:t>Early-stage detection of Advanced Persistent Threats (APTs).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sz="2600" b="1">
                <a:latin typeface="Arial"/>
                <a:ea typeface="+mn-lt"/>
                <a:cs typeface="Arial"/>
              </a:rPr>
              <a:t>Reasoning Techniques</a:t>
            </a:r>
            <a:r>
              <a:rPr lang="en-GB" sz="2600">
                <a:latin typeface="Arial"/>
                <a:ea typeface="+mn-lt"/>
                <a:cs typeface="Arial"/>
              </a:rPr>
              <a:t>: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200">
                <a:latin typeface="Arial"/>
                <a:ea typeface="+mn-lt"/>
                <a:cs typeface="Arial"/>
              </a:rPr>
              <a:t>Combine logic-based reasoning with graph-based models.</a:t>
            </a: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r>
              <a:rPr lang="en-GB" sz="2600" b="1">
                <a:latin typeface="Arial"/>
                <a:ea typeface="+mn-lt"/>
                <a:cs typeface="Arial"/>
              </a:rPr>
              <a:t>Example Tools:</a:t>
            </a:r>
            <a:r>
              <a:rPr lang="en-GB" sz="2600">
                <a:latin typeface="Arial"/>
                <a:ea typeface="+mn-lt"/>
                <a:cs typeface="Arial"/>
              </a:rPr>
              <a:t> Cortex XDR, Splunk</a:t>
            </a:r>
          </a:p>
          <a:p>
            <a:endParaRPr lang="en-GB" sz="32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Methods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lnSpcReduction="10000"/>
          </a:bodyPr>
          <a:lstStyle/>
          <a:p>
            <a:pPr>
              <a:buNone/>
            </a:pPr>
            <a:r>
              <a:rPr lang="en-GB" b="1">
                <a:latin typeface="Arial"/>
                <a:ea typeface="+mn-lt"/>
                <a:cs typeface="Arial"/>
              </a:rPr>
              <a:t>Graph-Based Approaches</a:t>
            </a:r>
            <a:r>
              <a:rPr lang="en-GB">
                <a:latin typeface="Arial"/>
                <a:ea typeface="+mn-lt"/>
                <a:cs typeface="Arial"/>
              </a:rPr>
              <a:t>:</a:t>
            </a:r>
            <a:endParaRPr lang="tr-TR">
              <a:latin typeface="Arial"/>
              <a:ea typeface="+mn-lt"/>
              <a:cs typeface="Arial"/>
            </a:endParaRPr>
          </a:p>
          <a:p>
            <a:pPr marL="679450" lvl="1" indent="-285750">
              <a:buFont typeface="Courier New"/>
              <a:buChar char="o"/>
            </a:pPr>
            <a:r>
              <a:rPr lang="en-GB" sz="2600">
                <a:latin typeface="Arial"/>
                <a:ea typeface="+mn-lt"/>
                <a:cs typeface="Arial"/>
              </a:rPr>
              <a:t>Graphs represent relationships.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sz="2600">
                <a:latin typeface="Arial"/>
                <a:ea typeface="+mn-lt"/>
                <a:cs typeface="Arial"/>
              </a:rPr>
              <a:t>Connected malicious entity identification by graph traversal algorithms.</a:t>
            </a:r>
            <a:endParaRPr lang="en-GB" sz="2600">
              <a:latin typeface="Arial"/>
              <a:cs typeface="Arial"/>
            </a:endParaRP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sz="2600" b="1">
                <a:latin typeface="Arial"/>
                <a:cs typeface="Arial"/>
              </a:rPr>
              <a:t>Techniques:</a:t>
            </a:r>
            <a:r>
              <a:rPr lang="en-GB" sz="2600" b="1">
                <a:latin typeface="Arial"/>
                <a:ea typeface="+mn-lt"/>
                <a:cs typeface="Arial"/>
              </a:rPr>
              <a:t> </a:t>
            </a:r>
            <a:endParaRPr lang="en-GB" sz="2600">
              <a:latin typeface="Arial"/>
              <a:ea typeface="+mn-lt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Node-based </a:t>
            </a:r>
            <a:r>
              <a:rPr lang="en-GB" sz="2000" err="1">
                <a:latin typeface="Arial"/>
                <a:ea typeface="+mn-lt"/>
                <a:cs typeface="Arial"/>
              </a:rPr>
              <a:t>behavior</a:t>
            </a:r>
            <a:r>
              <a:rPr lang="en-GB" sz="2000">
                <a:latin typeface="Arial"/>
                <a:ea typeface="+mn-lt"/>
                <a:cs typeface="Arial"/>
              </a:rPr>
              <a:t> extraction. 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Event relationship mapping using graph databases.</a:t>
            </a:r>
            <a:endParaRPr lang="en-GB" sz="2000">
              <a:latin typeface="Arial"/>
              <a:cs typeface="Arial"/>
            </a:endParaRP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b="1">
                <a:latin typeface="Arial"/>
                <a:cs typeface="Arial"/>
              </a:rPr>
              <a:t>Challenges: </a:t>
            </a:r>
            <a:endParaRPr lang="en-GB">
              <a:latin typeface="Arial"/>
              <a:ea typeface="+mn-lt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Computational intensity in processing large-scale graph datasets. 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Dependency on accurate data.</a:t>
            </a:r>
            <a:endParaRPr lang="en-GB" sz="2000">
              <a:latin typeface="Arial"/>
              <a:cs typeface="Arial"/>
            </a:endParaRP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endParaRPr lang="en-GB">
              <a:latin typeface="Arial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endParaRPr lang="en-GB" sz="18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1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Methods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Statistical Techniques and Challenges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tr-TR" sz="2400">
              <a:latin typeface="Arial"/>
              <a:ea typeface="+mn-lt"/>
              <a:cs typeface="Arial"/>
            </a:endParaRP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Detect stealthy activities that bypass signature-based methods.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b="1">
                <a:latin typeface="Arial"/>
                <a:cs typeface="Arial"/>
              </a:rPr>
              <a:t>Applications:</a:t>
            </a:r>
            <a:r>
              <a:rPr lang="en-GB" b="1">
                <a:latin typeface="Arial"/>
                <a:ea typeface="+mn-lt"/>
                <a:cs typeface="Arial"/>
              </a:rPr>
              <a:t> </a:t>
            </a:r>
            <a:endParaRPr lang="en-GB">
              <a:latin typeface="Arial"/>
              <a:ea typeface="+mn-lt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Identifying rare events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Standard deviation, percentile analysis.</a:t>
            </a:r>
            <a:endParaRPr lang="en-GB"/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Challenges: </a:t>
            </a: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High dependency on quality and variety of input data.</a:t>
            </a:r>
            <a:endParaRPr lang="en-GB" sz="2000"/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r>
              <a:rPr lang="en-GB" sz="2000">
                <a:latin typeface="Arial"/>
                <a:ea typeface="+mn-lt"/>
                <a:cs typeface="Arial"/>
              </a:rPr>
              <a:t>False positives due to natural variations in system </a:t>
            </a:r>
            <a:r>
              <a:rPr lang="en-GB" sz="2000" err="1">
                <a:latin typeface="Arial"/>
                <a:ea typeface="+mn-lt"/>
                <a:cs typeface="Arial"/>
              </a:rPr>
              <a:t>behavior</a:t>
            </a:r>
            <a:r>
              <a:rPr lang="en-GB" sz="2000">
                <a:latin typeface="Arial"/>
                <a:ea typeface="+mn-lt"/>
                <a:cs typeface="Arial"/>
              </a:rPr>
              <a:t>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endParaRPr lang="en-GB">
              <a:latin typeface="Arial"/>
              <a:cs typeface="Arial"/>
            </a:endParaRPr>
          </a:p>
          <a:p>
            <a:pPr marL="1136650" lvl="2" indent="-285750">
              <a:buClr>
                <a:srgbClr val="009DD9"/>
              </a:buClr>
              <a:buFont typeface="Wingdings"/>
              <a:buChar char="§"/>
            </a:pPr>
            <a:endParaRPr lang="en-GB">
              <a:latin typeface="Arial"/>
              <a:cs typeface="Arial"/>
            </a:endParaRPr>
          </a:p>
          <a:p>
            <a:endParaRPr lang="en-GB" sz="2800">
              <a:latin typeface="Arial"/>
              <a:cs typeface="Arial"/>
            </a:endParaRPr>
          </a:p>
          <a:p>
            <a:endParaRPr lang="en-GB" sz="28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02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Solutions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6994"/>
            <a:ext cx="8229600" cy="4389120"/>
          </a:xfrm>
        </p:spPr>
        <p:txBody>
          <a:bodyPr vert="horz" lIns="91440" tIns="45720" rIns="91440" bIns="45720" anchor="t">
            <a:normAutofit/>
          </a:bodyPr>
          <a:lstStyle/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Understanding Core Security Tools:</a:t>
            </a:r>
            <a:endParaRPr lang="tr-TR" sz="3200">
              <a:latin typeface="Arial"/>
              <a:cs typeface="Arial"/>
            </a:endParaRPr>
          </a:p>
          <a:p>
            <a:pPr marL="679450" lvl="1" indent="-285750"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SIEM, SOAR/XSOAR, and XDR interconnect in threat detection and response workflows.</a:t>
            </a:r>
            <a:endParaRPr lang="en-GB">
              <a:latin typeface="Arial"/>
              <a:cs typeface="Arial"/>
            </a:endParaRP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>
                <a:latin typeface="Arial"/>
                <a:ea typeface="+mn-lt"/>
                <a:cs typeface="Arial"/>
              </a:rPr>
              <a:t>These tools primarily focus on reactive threat detection</a:t>
            </a:r>
          </a:p>
          <a:p>
            <a:pPr>
              <a:buNone/>
            </a:pPr>
            <a:r>
              <a:rPr lang="en-GB" sz="2400" b="1">
                <a:latin typeface="Arial"/>
                <a:cs typeface="Arial"/>
              </a:rPr>
              <a:t>Integration of Threat Hunting with Security Tools:</a:t>
            </a:r>
            <a:endParaRPr lang="tr-TR" sz="2400">
              <a:latin typeface="Arial"/>
              <a:cs typeface="Arial"/>
            </a:endParaRPr>
          </a:p>
          <a:p>
            <a:pPr lvl="1" indent="-246380">
              <a:buFont typeface="Courier New"/>
              <a:buChar char="o"/>
            </a:pPr>
            <a:r>
              <a:rPr lang="en-GB">
                <a:latin typeface="Arial"/>
                <a:cs typeface="Arial"/>
              </a:rPr>
              <a:t>Falcon, ArcSight ESM, Helix, and Cisco XDR integrate threat hunting processes</a:t>
            </a:r>
            <a:endParaRPr lang="en-GB"/>
          </a:p>
          <a:p>
            <a:pPr marL="393700" lvl="1" indent="0">
              <a:buFont typeface="Courier New"/>
              <a:buNone/>
            </a:pPr>
            <a:endParaRPr lang="en-GB">
              <a:latin typeface="Arial"/>
              <a:cs typeface="Arial"/>
            </a:endParaRP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endParaRPr lang="en-GB">
              <a:latin typeface="Arial"/>
              <a:ea typeface="+mn-lt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03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Threat</a:t>
            </a:r>
            <a:r>
              <a:rPr lang="tr-TR">
                <a:latin typeface="Arial"/>
                <a:cs typeface="Arial"/>
              </a:rPr>
              <a:t> </a:t>
            </a:r>
            <a:r>
              <a:rPr lang="tr-TR" err="1">
                <a:latin typeface="Arial"/>
                <a:cs typeface="Arial"/>
              </a:rPr>
              <a:t>Hunting</a:t>
            </a:r>
            <a:r>
              <a:rPr lang="tr-TR">
                <a:latin typeface="Arial"/>
                <a:cs typeface="Arial"/>
              </a:rPr>
              <a:t> Solutions</a:t>
            </a:r>
            <a:endParaRPr lang="tr-TR" b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Capabilities of Modern Platforms</a:t>
            </a:r>
            <a:r>
              <a:rPr lang="en-GB" sz="2400">
                <a:latin typeface="Arial"/>
                <a:ea typeface="+mn-lt"/>
                <a:cs typeface="Arial"/>
              </a:rPr>
              <a:t>:</a:t>
            </a:r>
            <a:endParaRPr lang="tr-TR" sz="3200">
              <a:latin typeface="Arial"/>
              <a:ea typeface="+mn-lt"/>
              <a:cs typeface="Arial"/>
            </a:endParaRPr>
          </a:p>
          <a:p>
            <a:pPr marL="679450" lvl="1" indent="-285750"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Cortex XDR</a:t>
            </a:r>
            <a:r>
              <a:rPr lang="en-GB">
                <a:latin typeface="Arial"/>
                <a:ea typeface="+mn-lt"/>
                <a:cs typeface="Arial"/>
              </a:rPr>
              <a:t>:</a:t>
            </a:r>
          </a:p>
          <a:p>
            <a:pPr marL="1097280" lvl="2" indent="-246380">
              <a:buClr>
                <a:srgbClr val="009DD9"/>
              </a:buClr>
            </a:pPr>
            <a:r>
              <a:rPr lang="en-GB" sz="2000">
                <a:latin typeface="Arial"/>
                <a:ea typeface="+mn-lt"/>
                <a:cs typeface="Arial"/>
              </a:rPr>
              <a:t>Combines machine learning, rule-based detection, and </a:t>
            </a:r>
            <a:r>
              <a:rPr lang="en-GB" sz="2000" err="1">
                <a:latin typeface="Arial"/>
                <a:ea typeface="+mn-lt"/>
                <a:cs typeface="Arial"/>
              </a:rPr>
              <a:t>behavior</a:t>
            </a:r>
            <a:r>
              <a:rPr lang="en-GB" sz="2000">
                <a:latin typeface="Arial"/>
                <a:ea typeface="+mn-lt"/>
                <a:cs typeface="Arial"/>
              </a:rPr>
              <a:t> analytics. </a:t>
            </a:r>
          </a:p>
          <a:p>
            <a:pPr marL="1097280" lvl="2" indent="-246380">
              <a:buClr>
                <a:srgbClr val="009DD9"/>
              </a:buClr>
            </a:pPr>
            <a:r>
              <a:rPr lang="en-GB" sz="2000">
                <a:latin typeface="Arial"/>
                <a:ea typeface="+mn-lt"/>
                <a:cs typeface="Arial"/>
              </a:rPr>
              <a:t>Includes XQL for flexible data exploration.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b="1" err="1">
                <a:latin typeface="Arial"/>
                <a:ea typeface="+mn-lt"/>
                <a:cs typeface="Arial"/>
              </a:rPr>
              <a:t>QRadar</a:t>
            </a:r>
            <a:r>
              <a:rPr lang="en-GB">
                <a:latin typeface="Arial"/>
                <a:ea typeface="+mn-lt"/>
                <a:cs typeface="Arial"/>
              </a:rPr>
              <a:t>:</a:t>
            </a:r>
          </a:p>
          <a:p>
            <a:pPr marL="1136650" lvl="2" indent="-285750">
              <a:buClr>
                <a:srgbClr val="009DD9"/>
              </a:buClr>
            </a:pPr>
            <a:r>
              <a:rPr lang="en-GB" sz="2000" err="1">
                <a:latin typeface="Arial"/>
                <a:ea typeface="+mn-lt"/>
                <a:cs typeface="Arial"/>
              </a:rPr>
              <a:t>Analyzes</a:t>
            </a:r>
            <a:r>
              <a:rPr lang="en-GB" sz="2000">
                <a:latin typeface="Arial"/>
                <a:ea typeface="+mn-lt"/>
                <a:cs typeface="Arial"/>
              </a:rPr>
              <a:t> network traffic and events via STIX/TAXII.</a:t>
            </a:r>
          </a:p>
          <a:p>
            <a:pPr marL="679450" lvl="1" indent="-285750">
              <a:buClr>
                <a:srgbClr val="0F6FC6"/>
              </a:buClr>
              <a:buFont typeface="Courier New"/>
              <a:buChar char="o"/>
            </a:pPr>
            <a:r>
              <a:rPr lang="en-GB" b="1">
                <a:latin typeface="Arial"/>
                <a:ea typeface="+mn-lt"/>
                <a:cs typeface="Arial"/>
              </a:rPr>
              <a:t>Splunk</a:t>
            </a:r>
            <a:r>
              <a:rPr lang="en-GB">
                <a:latin typeface="Arial"/>
                <a:ea typeface="+mn-lt"/>
                <a:cs typeface="Arial"/>
              </a:rPr>
              <a:t>:</a:t>
            </a:r>
          </a:p>
          <a:p>
            <a:pPr marL="1136650" lvl="2" indent="-285750">
              <a:buClr>
                <a:srgbClr val="009DD9"/>
              </a:buClr>
            </a:pPr>
            <a:r>
              <a:rPr lang="en-GB" sz="2000">
                <a:latin typeface="Arial"/>
                <a:ea typeface="+mn-lt"/>
                <a:cs typeface="Arial"/>
              </a:rPr>
              <a:t>Provides real-time monitoring and analytics, using machine learning to visualize and respond to threats.</a:t>
            </a:r>
          </a:p>
          <a:p>
            <a:pPr marL="731520" lvl="1" indent="-246380">
              <a:buClr>
                <a:srgbClr val="0F6FC6"/>
              </a:buClr>
              <a:buFont typeface="Courier New"/>
              <a:buChar char="o"/>
            </a:pPr>
            <a:endParaRPr lang="en-GB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  <a:p>
            <a:endParaRPr lang="en-GB" sz="32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r>
              <a:rPr lang="tr-TR" err="1">
                <a:latin typeface="Arial"/>
                <a:cs typeface="Arial"/>
              </a:rPr>
              <a:t>Conclusion</a:t>
            </a:r>
            <a:endParaRPr lang="tr-TR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r>
              <a:rPr lang="en-GB" sz="2400">
                <a:latin typeface="Arial"/>
                <a:ea typeface="+mn-lt"/>
                <a:cs typeface="Arial"/>
              </a:rPr>
              <a:t>MITRE ATT&amp;CK enhances consistency and accuracy in identifying threats.</a:t>
            </a:r>
            <a:endParaRPr lang="en-GB" sz="2400">
              <a:latin typeface="Arial"/>
              <a:cs typeface="Arial"/>
            </a:endParaRPr>
          </a:p>
          <a:p>
            <a:r>
              <a:rPr lang="en-GB" sz="2400">
                <a:latin typeface="Arial"/>
                <a:ea typeface="+mn-lt"/>
                <a:cs typeface="Arial"/>
              </a:rPr>
              <a:t>Automation through AI and reasoning techniques improves efficiency and reduces time.</a:t>
            </a:r>
          </a:p>
          <a:p>
            <a:r>
              <a:rPr lang="en-GB" sz="2400">
                <a:latin typeface="Arial"/>
                <a:ea typeface="+mn-lt"/>
                <a:cs typeface="Arial"/>
              </a:rPr>
              <a:t>Graph-based analysis and ML-driven approaches demonstrate potential but face challenges such as false positives.</a:t>
            </a:r>
          </a:p>
          <a:p>
            <a:pPr marL="0" indent="0">
              <a:buNone/>
            </a:pPr>
            <a:r>
              <a:rPr lang="en-GB" sz="2400" b="1">
                <a:latin typeface="Arial"/>
                <a:ea typeface="+mn-lt"/>
                <a:cs typeface="Arial"/>
              </a:rPr>
              <a:t>Future Directions</a:t>
            </a:r>
            <a:endParaRPr lang="en-GB" sz="2400">
              <a:latin typeface="Arial"/>
              <a:cs typeface="Arial"/>
            </a:endParaRPr>
          </a:p>
          <a:p>
            <a:pPr marL="731520" lvl="1" indent="-274320">
              <a:buClr>
                <a:srgbClr val="0F6FC6"/>
              </a:buClr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Emphasis on automation of hypothesis creation and validation.</a:t>
            </a:r>
          </a:p>
          <a:p>
            <a:pPr marL="731520" lvl="1" indent="-274320">
              <a:buClr>
                <a:srgbClr val="0F6FC6"/>
              </a:buClr>
              <a:buFont typeface="Courier New"/>
              <a:buChar char="o"/>
            </a:pPr>
            <a:r>
              <a:rPr lang="en-GB" sz="2000">
                <a:latin typeface="Arial"/>
                <a:ea typeface="+mn-lt"/>
                <a:cs typeface="Arial"/>
              </a:rPr>
              <a:t>Improving explainability in AI models and integrating scalable, real-time solutions.</a:t>
            </a:r>
            <a:endParaRPr lang="en-GB" sz="200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58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81000" y="1798637"/>
            <a:ext cx="8534400" cy="4525963"/>
          </a:xfrm>
        </p:spPr>
        <p:txBody>
          <a:bodyPr vert="horz" lIns="91440" tIns="45720" rIns="91440" bIns="45720" anchor="t">
            <a:normAutofit/>
          </a:bodyPr>
          <a:lstStyle/>
          <a:p>
            <a:endParaRPr lang="en-US" sz="2200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2400" i="1" dirty="0">
                <a:latin typeface="Arial"/>
                <a:cs typeface="Times New Roman"/>
              </a:rPr>
              <a:t>Indicator for malicious URL</a:t>
            </a:r>
            <a:r>
              <a:rPr lang="en-US" sz="2400" dirty="0">
                <a:latin typeface="Arial"/>
                <a:cs typeface="Times New Roman"/>
              </a:rPr>
              <a:t>. (n.d.). https://oasis-open.github.io/cti-documentation/examples/indicator-for-malicious-url</a:t>
            </a:r>
            <a:endParaRPr lang="en-US" dirty="0">
              <a:latin typeface="Constantia"/>
              <a:cs typeface="Times New Roman"/>
            </a:endParaRPr>
          </a:p>
          <a:p>
            <a:pPr marL="342900" indent="-342900"/>
            <a:r>
              <a:rPr lang="en-US" sz="2400" dirty="0">
                <a:latin typeface="Arial"/>
                <a:cs typeface="Times New Roman"/>
              </a:rPr>
              <a:t>R</a:t>
            </a:r>
            <a:r>
              <a:rPr lang="en-US" sz="2400" dirty="0">
                <a:latin typeface="Arial"/>
                <a:ea typeface="+mn-lt"/>
                <a:cs typeface="+mn-lt"/>
              </a:rPr>
              <a:t>. Brown and R. M. Lee, 2021 SANS Cyber Threat Intelligence (CTI) Survey, SANS Inst., Rockville, VA, USA, 2021</a:t>
            </a:r>
          </a:p>
          <a:p>
            <a:pPr marL="342900" indent="-342900"/>
            <a:r>
              <a:rPr lang="en-US" sz="2400" dirty="0">
                <a:latin typeface="Arial"/>
                <a:ea typeface="+mn-lt"/>
                <a:cs typeface="+mn-lt"/>
              </a:rPr>
              <a:t>G. González-</a:t>
            </a:r>
            <a:r>
              <a:rPr lang="en-US" sz="2400" err="1">
                <a:latin typeface="Arial"/>
                <a:ea typeface="+mn-lt"/>
                <a:cs typeface="+mn-lt"/>
              </a:rPr>
              <a:t>Granadillo</a:t>
            </a:r>
            <a:r>
              <a:rPr lang="en-US" sz="2400" dirty="0">
                <a:latin typeface="Arial"/>
                <a:ea typeface="+mn-lt"/>
                <a:cs typeface="+mn-lt"/>
              </a:rPr>
              <a:t>, S. González-Zarzosa, and R. Diaz, “Security information and event management (SIEM): Analysis, trends, and usage in critical infrastructures,” Sensors, vol. 21, no. 14, p. 4759, 2021.</a:t>
            </a:r>
            <a:endParaRPr lang="en-US">
              <a:latin typeface="Arial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pPr lvl="1" indent="-246380"/>
            <a:endParaRPr lang="en-US" sz="2800">
              <a:latin typeface="Arial" pitchFamily="34" charset="0"/>
              <a:cs typeface="Arial" pitchFamily="34" charset="0"/>
            </a:endParaRPr>
          </a:p>
          <a:p>
            <a:pPr marL="393065" lvl="1" indent="0">
              <a:buNone/>
            </a:pPr>
            <a:endParaRPr lang="en-US" sz="2800">
              <a:latin typeface="Arial" pitchFamily="34" charset="0"/>
              <a:cs typeface="Arial" pitchFamily="34" charset="0"/>
            </a:endParaRPr>
          </a:p>
          <a:p>
            <a:pPr marL="393065" lvl="1" indent="0">
              <a:buClr>
                <a:srgbClr val="0F6FC6"/>
              </a:buClr>
              <a:buNone/>
            </a:pPr>
            <a:endParaRPr lang="tr-TR" sz="2800">
              <a:latin typeface="Arial" pitchFamily="34" charset="0"/>
              <a:cs typeface="Arial" pitchFamily="34" charset="0"/>
            </a:endParaRPr>
          </a:p>
          <a:p>
            <a:pPr marL="393065" lvl="1" indent="0">
              <a:buClr>
                <a:srgbClr val="0F6FC6"/>
              </a:buClr>
              <a:buNone/>
            </a:pPr>
            <a:endParaRPr lang="tr-TR" sz="28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tr-TR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Title 7"/>
          <p:cNvSpPr txBox="1">
            <a:spLocks/>
          </p:cNvSpPr>
          <p:nvPr/>
        </p:nvSpPr>
        <p:spPr>
          <a:xfrm>
            <a:off x="609600" y="8564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none" spc="0" normalizeH="0" baseline="0" noProof="0" err="1">
                <a:ln>
                  <a:noFill/>
                </a:ln>
                <a:solidFill>
                  <a:srgbClr val="002F8E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References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2F8E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lvl="1" indent="-246380" algn="ctr">
              <a:buNone/>
            </a:pPr>
            <a:endParaRPr lang="en-US" sz="6600">
              <a:latin typeface="Arial" pitchFamily="34" charset="0"/>
              <a:cs typeface="Arial" pitchFamily="34" charset="0"/>
            </a:endParaRPr>
          </a:p>
          <a:p>
            <a:pPr lvl="1" indent="-246380" algn="ctr">
              <a:buNone/>
            </a:pPr>
            <a:r>
              <a:rPr lang="tr-TR" sz="6600">
                <a:latin typeface="Arial"/>
                <a:cs typeface="Arial"/>
              </a:rPr>
              <a:t>THANK YOU!</a:t>
            </a:r>
            <a:endParaRPr lang="en-US" sz="66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6600" b="1">
                <a:latin typeface="Arial" pitchFamily="34" charset="0"/>
                <a:cs typeface="Arial" pitchFamily="34" charset="0"/>
              </a:rPr>
              <a:t>         </a:t>
            </a:r>
          </a:p>
          <a:p>
            <a:pPr>
              <a:buNone/>
            </a:pPr>
            <a:r>
              <a:rPr lang="tr-TR" sz="66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tr-TR" sz="6600" b="1">
                <a:solidFill>
                  <a:srgbClr val="002F8E"/>
                </a:solidFill>
                <a:latin typeface="Arial" pitchFamily="34" charset="0"/>
                <a:cs typeface="Arial" pitchFamily="34" charset="0"/>
              </a:rPr>
              <a:t>QUESTIONS</a:t>
            </a:r>
          </a:p>
          <a:p>
            <a:pPr>
              <a:buNone/>
            </a:pPr>
            <a:r>
              <a:rPr lang="tr-TR" sz="6600" b="1">
                <a:solidFill>
                  <a:srgbClr val="002F8E"/>
                </a:solidFill>
                <a:latin typeface="Arial" pitchFamily="34" charset="0"/>
                <a:cs typeface="Arial" pitchFamily="34" charset="0"/>
              </a:rPr>
              <a:t>					 ?</a:t>
            </a:r>
            <a:endParaRPr lang="en-US" sz="6600" b="1">
              <a:solidFill>
                <a:srgbClr val="002F8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C1BFE-86AD-4E98-8712-9CEA5A33D85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Özel Tasarım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Application>Microsoft Office PowerPoint</Application>
  <PresentationFormat>Ekran Gösterisi (4:3)</PresentationFormat>
  <Slides>25</Slides>
  <Notes>1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25</vt:i4>
      </vt:variant>
    </vt:vector>
  </HeadingPairs>
  <TitlesOfParts>
    <vt:vector size="27" baseType="lpstr">
      <vt:lpstr>Flow</vt:lpstr>
      <vt:lpstr>Özel Tasarım</vt:lpstr>
      <vt:lpstr>PowerPoint Sunusu</vt:lpstr>
      <vt:lpstr>Overview</vt:lpstr>
      <vt:lpstr>Motivation</vt:lpstr>
      <vt:lpstr>Problem Description</vt:lpstr>
      <vt:lpstr>Overview of Project</vt:lpstr>
      <vt:lpstr>Threat Hunting Essentials</vt:lpstr>
      <vt:lpstr>Threat Hunting Essentials</vt:lpstr>
      <vt:lpstr>Threat Hunting Architecture</vt:lpstr>
      <vt:lpstr>Threat Hunting Essentials</vt:lpstr>
      <vt:lpstr>Threat Hunting Architecture</vt:lpstr>
      <vt:lpstr>Threat Hunting Architecture</vt:lpstr>
      <vt:lpstr>Threat Hunting Architecture</vt:lpstr>
      <vt:lpstr>Threat Hunting Standards</vt:lpstr>
      <vt:lpstr>STIX</vt:lpstr>
      <vt:lpstr>Threat Hunting Standards</vt:lpstr>
      <vt:lpstr>Threat Hunting Standards</vt:lpstr>
      <vt:lpstr>Threat Hunting Methods</vt:lpstr>
      <vt:lpstr>Threat Hunting Methods</vt:lpstr>
      <vt:lpstr>Threat Hunting Methods</vt:lpstr>
      <vt:lpstr>Threat Hunting Solutions</vt:lpstr>
      <vt:lpstr>Threat Hunting Solutions</vt:lpstr>
      <vt:lpstr>Conclusion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13</cp:revision>
  <dcterms:created xsi:type="dcterms:W3CDTF">2010-05-06T15:00:16Z</dcterms:created>
  <dcterms:modified xsi:type="dcterms:W3CDTF">2024-12-18T15:38:13Z</dcterms:modified>
</cp:coreProperties>
</file>